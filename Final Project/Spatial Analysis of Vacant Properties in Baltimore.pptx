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  <p:embeddedFont>
      <p:font typeface="Arial" charset="1" panose="020B0604020202020204"/>
      <p:regular r:id="rId29"/>
    </p:embeddedFont>
    <p:embeddedFont>
      <p:font typeface="Avenir Next" charset="1" panose="020B0503020202020204"/>
      <p:regular r:id="rId33"/>
    </p:embeddedFont>
    <p:embeddedFont>
      <p:font typeface="Avenir Next Bold" charset="1" panose="020B0803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Vacant areas, highest potential for development, Choropeth maps, 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Schools, education, high/low employment, 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jpeg" Type="http://schemas.openxmlformats.org/officeDocument/2006/relationships/image"/><Relationship Id="rId11" Target="../media/image50.jpe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52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5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56.png" Type="http://schemas.openxmlformats.org/officeDocument/2006/relationships/image"/><Relationship Id="rId6" Target="../media/image59.png" Type="http://schemas.openxmlformats.org/officeDocument/2006/relationships/image"/><Relationship Id="rId7" Target="../embeddings/oleObject3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4.bin" Type="http://schemas.openxmlformats.org/officeDocument/2006/relationships/oleObjec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6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42327"/>
            <a:ext cx="12817816" cy="4304021"/>
          </a:xfrm>
          <a:custGeom>
            <a:avLst/>
            <a:gdLst/>
            <a:ahLst/>
            <a:cxnLst/>
            <a:rect r="r" b="b" t="t" l="l"/>
            <a:pathLst>
              <a:path h="4304021" w="12817816">
                <a:moveTo>
                  <a:pt x="0" y="0"/>
                </a:moveTo>
                <a:lnTo>
                  <a:pt x="12817816" y="0"/>
                </a:lnTo>
                <a:lnTo>
                  <a:pt x="12817816" y="4304021"/>
                </a:lnTo>
                <a:lnTo>
                  <a:pt x="0" y="430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" t="0" r="-3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63848" y="7195745"/>
            <a:ext cx="12817816" cy="3672918"/>
          </a:xfrm>
          <a:custGeom>
            <a:avLst/>
            <a:gdLst/>
            <a:ahLst/>
            <a:cxnLst/>
            <a:rect r="r" b="b" t="t" l="l"/>
            <a:pathLst>
              <a:path h="3672918" w="12817816">
                <a:moveTo>
                  <a:pt x="0" y="0"/>
                </a:moveTo>
                <a:lnTo>
                  <a:pt x="12817816" y="0"/>
                </a:lnTo>
                <a:lnTo>
                  <a:pt x="12817816" y="3672919"/>
                </a:lnTo>
                <a:lnTo>
                  <a:pt x="0" y="3672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371915" y="0"/>
            <a:ext cx="2916085" cy="2216486"/>
          </a:xfrm>
          <a:custGeom>
            <a:avLst/>
            <a:gdLst/>
            <a:ahLst/>
            <a:cxnLst/>
            <a:rect r="r" b="b" t="t" l="l"/>
            <a:pathLst>
              <a:path h="2216486" w="2916085">
                <a:moveTo>
                  <a:pt x="0" y="2216486"/>
                </a:moveTo>
                <a:lnTo>
                  <a:pt x="2916085" y="2216486"/>
                </a:lnTo>
                <a:lnTo>
                  <a:pt x="2916085" y="0"/>
                </a:lnTo>
                <a:lnTo>
                  <a:pt x="0" y="0"/>
                </a:lnTo>
                <a:lnTo>
                  <a:pt x="0" y="221648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371915" y="4442994"/>
            <a:ext cx="1944369" cy="1944369"/>
          </a:xfrm>
          <a:custGeom>
            <a:avLst/>
            <a:gdLst/>
            <a:ahLst/>
            <a:cxnLst/>
            <a:rect r="r" b="b" t="t" l="l"/>
            <a:pathLst>
              <a:path h="1944369" w="1944369">
                <a:moveTo>
                  <a:pt x="1944369" y="0"/>
                </a:moveTo>
                <a:lnTo>
                  <a:pt x="0" y="0"/>
                </a:lnTo>
                <a:lnTo>
                  <a:pt x="0" y="1944369"/>
                </a:lnTo>
                <a:lnTo>
                  <a:pt x="1944369" y="1944369"/>
                </a:lnTo>
                <a:lnTo>
                  <a:pt x="194436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20837" y="8060020"/>
            <a:ext cx="1944369" cy="1944369"/>
          </a:xfrm>
          <a:custGeom>
            <a:avLst/>
            <a:gdLst/>
            <a:ahLst/>
            <a:cxnLst/>
            <a:rect r="r" b="b" t="t" l="l"/>
            <a:pathLst>
              <a:path h="1944369" w="1944369">
                <a:moveTo>
                  <a:pt x="0" y="0"/>
                </a:moveTo>
                <a:lnTo>
                  <a:pt x="1944369" y="0"/>
                </a:lnTo>
                <a:lnTo>
                  <a:pt x="1944369" y="1944369"/>
                </a:lnTo>
                <a:lnTo>
                  <a:pt x="0" y="1944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6858" y="5329454"/>
            <a:ext cx="6644601" cy="50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Krishna C. Mummadi ( MT68291)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858" y="898693"/>
            <a:ext cx="15576691" cy="23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200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Spatial Analysis of Vacant Properties in Baltimore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124109" y="4357269"/>
            <a:ext cx="1281781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777 Public and Crowdsourced Spatial Data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066573"/>
            <a:ext cx="16347502" cy="5738497"/>
          </a:xfrm>
          <a:custGeom>
            <a:avLst/>
            <a:gdLst/>
            <a:ahLst/>
            <a:cxnLst/>
            <a:rect r="r" b="b" t="t" l="l"/>
            <a:pathLst>
              <a:path h="5738497" w="16347502">
                <a:moveTo>
                  <a:pt x="0" y="0"/>
                </a:moveTo>
                <a:lnTo>
                  <a:pt x="16347502" y="0"/>
                </a:lnTo>
                <a:lnTo>
                  <a:pt x="16347502" y="5738497"/>
                </a:lnTo>
                <a:lnTo>
                  <a:pt x="0" y="5738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36639" y="1447182"/>
            <a:ext cx="5326674" cy="6907493"/>
          </a:xfrm>
          <a:custGeom>
            <a:avLst/>
            <a:gdLst/>
            <a:ahLst/>
            <a:cxnLst/>
            <a:rect r="r" b="b" t="t" l="l"/>
            <a:pathLst>
              <a:path h="6907493" w="5326674">
                <a:moveTo>
                  <a:pt x="0" y="0"/>
                </a:moveTo>
                <a:lnTo>
                  <a:pt x="5326674" y="0"/>
                </a:lnTo>
                <a:lnTo>
                  <a:pt x="5326674" y="6907493"/>
                </a:lnTo>
                <a:lnTo>
                  <a:pt x="0" y="69074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42497" y="3913412"/>
            <a:ext cx="9216803" cy="290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Urban vacancy is a persistent issue in many post-industrial U.S. cities</a:t>
            </a:r>
          </a:p>
          <a:p>
            <a:pPr algn="l">
              <a:lnSpc>
                <a:spcPts val="3886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is a symptom and driver of neighborhood decline</a:t>
            </a:r>
          </a:p>
          <a:p>
            <a:pPr algn="l">
              <a:lnSpc>
                <a:spcPts val="3886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of 2025, the city reports 12,376 vacant properties across Baltimore.</a:t>
            </a:r>
          </a:p>
          <a:p>
            <a:pPr algn="l">
              <a:lnSpc>
                <a:spcPts val="388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484635" y="2452601"/>
            <a:ext cx="7746735" cy="149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25692" y="3425795"/>
            <a:ext cx="4748595" cy="3167245"/>
            <a:chOff x="0" y="0"/>
            <a:chExt cx="6331460" cy="4222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1458" cy="4223004"/>
            </a:xfrm>
            <a:custGeom>
              <a:avLst/>
              <a:gdLst/>
              <a:ahLst/>
              <a:cxnLst/>
              <a:rect r="r" b="b" t="t" l="l"/>
              <a:pathLst>
                <a:path h="4223004" w="6331458">
                  <a:moveTo>
                    <a:pt x="0" y="0"/>
                  </a:moveTo>
                  <a:lnTo>
                    <a:pt x="6331458" y="0"/>
                  </a:lnTo>
                  <a:lnTo>
                    <a:pt x="6331458" y="4223004"/>
                  </a:lnTo>
                  <a:lnTo>
                    <a:pt x="0" y="4223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3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10050" y="8526125"/>
            <a:ext cx="4762500" cy="45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Picture: The Baltimore Banner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8371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85704"/>
            <a:ext cx="18288000" cy="3672918"/>
          </a:xfrm>
          <a:custGeom>
            <a:avLst/>
            <a:gdLst/>
            <a:ahLst/>
            <a:cxnLst/>
            <a:rect r="r" b="b" t="t" l="l"/>
            <a:pathLst>
              <a:path h="3672918" w="18288000">
                <a:moveTo>
                  <a:pt x="0" y="0"/>
                </a:moveTo>
                <a:lnTo>
                  <a:pt x="18288000" y="0"/>
                </a:lnTo>
                <a:lnTo>
                  <a:pt x="18288000" y="3672918"/>
                </a:lnTo>
                <a:lnTo>
                  <a:pt x="0" y="367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214595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0"/>
                </a:moveTo>
                <a:lnTo>
                  <a:pt x="0" y="0"/>
                </a:lnTo>
                <a:lnTo>
                  <a:pt x="0" y="2072405"/>
                </a:lnTo>
                <a:lnTo>
                  <a:pt x="2851802" y="2072405"/>
                </a:lnTo>
                <a:lnTo>
                  <a:pt x="285180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27712" y="1291801"/>
            <a:ext cx="10443835" cy="10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599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1069" y="3382907"/>
            <a:ext cx="10316634" cy="438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While tr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aveling through different parts of Baltimore City, I frequently observed boarded and closed properties.</a:t>
            </a:r>
          </a:p>
          <a:p>
            <a:pPr algn="l">
              <a:lnSpc>
                <a:spcPts val="3498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contribute to:</a:t>
            </a:r>
          </a:p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neighboring property values</a:t>
            </a:r>
          </a:p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Increased vandalism, dumping, and crime</a:t>
            </a:r>
          </a:p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tax revenue -&gt; fewer public services</a:t>
            </a:r>
          </a:p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Negative neighborhood perception -&gt; resident out-migration</a:t>
            </a:r>
          </a:p>
          <a:p>
            <a:pPr algn="l" marL="571378" indent="-19045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Vacancy is deeply connected to equity, safety, housing stability, and economic opportunity.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899950" y="2295200"/>
            <a:ext cx="2308765" cy="2308765"/>
            <a:chOff x="0" y="0"/>
            <a:chExt cx="3078353" cy="30783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78353" cy="3078353"/>
            </a:xfrm>
            <a:custGeom>
              <a:avLst/>
              <a:gdLst/>
              <a:ahLst/>
              <a:cxnLst/>
              <a:rect r="r" b="b" t="t" l="l"/>
              <a:pathLst>
                <a:path h="3078353" w="3078353">
                  <a:moveTo>
                    <a:pt x="0" y="0"/>
                  </a:moveTo>
                  <a:lnTo>
                    <a:pt x="3078353" y="0"/>
                  </a:lnTo>
                  <a:lnTo>
                    <a:pt x="3078353" y="3078353"/>
                  </a:lnTo>
                  <a:lnTo>
                    <a:pt x="0" y="307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75950" y="5435600"/>
            <a:ext cx="1995011" cy="1995011"/>
            <a:chOff x="0" y="0"/>
            <a:chExt cx="2660015" cy="26600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0015" cy="2660015"/>
            </a:xfrm>
            <a:custGeom>
              <a:avLst/>
              <a:gdLst/>
              <a:ahLst/>
              <a:cxnLst/>
              <a:rect r="r" b="b" t="t" l="l"/>
              <a:pathLst>
                <a:path h="2660015" w="2660015">
                  <a:moveTo>
                    <a:pt x="0" y="0"/>
                  </a:moveTo>
                  <a:lnTo>
                    <a:pt x="2660015" y="0"/>
                  </a:lnTo>
                  <a:lnTo>
                    <a:pt x="2660015" y="2660015"/>
                  </a:lnTo>
                  <a:lnTo>
                    <a:pt x="0" y="2660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37550" y="3312150"/>
            <a:ext cx="1831372" cy="1831372"/>
            <a:chOff x="0" y="0"/>
            <a:chExt cx="2441829" cy="24418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829" cy="2441829"/>
            </a:xfrm>
            <a:custGeom>
              <a:avLst/>
              <a:gdLst/>
              <a:ahLst/>
              <a:cxnLst/>
              <a:rect r="r" b="b" t="t" l="l"/>
              <a:pathLst>
                <a:path h="2441829" w="2441829">
                  <a:moveTo>
                    <a:pt x="0" y="0"/>
                  </a:moveTo>
                  <a:lnTo>
                    <a:pt x="2441829" y="0"/>
                  </a:lnTo>
                  <a:lnTo>
                    <a:pt x="2441829" y="2441829"/>
                  </a:lnTo>
                  <a:lnTo>
                    <a:pt x="0" y="244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00204" y="6785906"/>
            <a:ext cx="1995011" cy="1995107"/>
            <a:chOff x="0" y="0"/>
            <a:chExt cx="2660015" cy="26601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0015" cy="2660142"/>
            </a:xfrm>
            <a:custGeom>
              <a:avLst/>
              <a:gdLst/>
              <a:ahLst/>
              <a:cxnLst/>
              <a:rect r="r" b="b" t="t" l="l"/>
              <a:pathLst>
                <a:path h="2660142" w="2660015">
                  <a:moveTo>
                    <a:pt x="0" y="0"/>
                  </a:moveTo>
                  <a:lnTo>
                    <a:pt x="2660015" y="0"/>
                  </a:lnTo>
                  <a:lnTo>
                    <a:pt x="2660015" y="2660142"/>
                  </a:lnTo>
                  <a:lnTo>
                    <a:pt x="0" y="266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" t="0" r="-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8407" y="1028700"/>
            <a:ext cx="2550864" cy="2550864"/>
          </a:xfrm>
          <a:custGeom>
            <a:avLst/>
            <a:gdLst/>
            <a:ahLst/>
            <a:cxnLst/>
            <a:rect r="r" b="b" t="t" l="l"/>
            <a:pathLst>
              <a:path h="2550864" w="2550864">
                <a:moveTo>
                  <a:pt x="0" y="0"/>
                </a:moveTo>
                <a:lnTo>
                  <a:pt x="2550864" y="0"/>
                </a:lnTo>
                <a:lnTo>
                  <a:pt x="2550864" y="2550864"/>
                </a:lnTo>
                <a:lnTo>
                  <a:pt x="0" y="2550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62776"/>
            <a:ext cx="15382200" cy="6907493"/>
          </a:xfrm>
          <a:custGeom>
            <a:avLst/>
            <a:gdLst/>
            <a:ahLst/>
            <a:cxnLst/>
            <a:rect r="r" b="b" t="t" l="l"/>
            <a:pathLst>
              <a:path h="6907493" w="15382200">
                <a:moveTo>
                  <a:pt x="0" y="0"/>
                </a:moveTo>
                <a:lnTo>
                  <a:pt x="15382200" y="0"/>
                </a:lnTo>
                <a:lnTo>
                  <a:pt x="15382200" y="6907493"/>
                </a:lnTo>
                <a:lnTo>
                  <a:pt x="0" y="6907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8299" y="1674508"/>
            <a:ext cx="8780073" cy="6284029"/>
          </a:xfrm>
          <a:custGeom>
            <a:avLst/>
            <a:gdLst/>
            <a:ahLst/>
            <a:cxnLst/>
            <a:rect r="r" b="b" t="t" l="l"/>
            <a:pathLst>
              <a:path h="6284029" w="8780073">
                <a:moveTo>
                  <a:pt x="0" y="0"/>
                </a:moveTo>
                <a:lnTo>
                  <a:pt x="8780073" y="0"/>
                </a:lnTo>
                <a:lnTo>
                  <a:pt x="8780073" y="6284029"/>
                </a:lnTo>
                <a:lnTo>
                  <a:pt x="0" y="628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8299" y="4336757"/>
            <a:ext cx="8780073" cy="3621780"/>
          </a:xfrm>
          <a:custGeom>
            <a:avLst/>
            <a:gdLst/>
            <a:ahLst/>
            <a:cxnLst/>
            <a:rect r="r" b="b" t="t" l="l"/>
            <a:pathLst>
              <a:path h="3621780" w="8780073">
                <a:moveTo>
                  <a:pt x="0" y="0"/>
                </a:moveTo>
                <a:lnTo>
                  <a:pt x="8780073" y="0"/>
                </a:lnTo>
                <a:lnTo>
                  <a:pt x="8780073" y="3621780"/>
                </a:lnTo>
                <a:lnTo>
                  <a:pt x="0" y="3621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88" r="0" b="-8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71432" y="7690102"/>
            <a:ext cx="3416568" cy="2596898"/>
          </a:xfrm>
          <a:custGeom>
            <a:avLst/>
            <a:gdLst/>
            <a:ahLst/>
            <a:cxnLst/>
            <a:rect r="r" b="b" t="t" l="l"/>
            <a:pathLst>
              <a:path h="2596898" w="3416568">
                <a:moveTo>
                  <a:pt x="0" y="0"/>
                </a:moveTo>
                <a:lnTo>
                  <a:pt x="3416568" y="0"/>
                </a:lnTo>
                <a:lnTo>
                  <a:pt x="3416568" y="2596898"/>
                </a:lnTo>
                <a:lnTo>
                  <a:pt x="0" y="25968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15" t="0" r="-11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3839" y="1569534"/>
            <a:ext cx="7244372" cy="54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</a:p>
          <a:p>
            <a:pPr algn="just" marL="639958" indent="-21331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 high vacancy areas also have:</a:t>
            </a:r>
          </a:p>
          <a:p>
            <a:pPr algn="just" marL="639958" indent="-213319" lvl="2">
              <a:lnSpc>
                <a:spcPts val="3919"/>
              </a:lnSpc>
            </a:pPr>
          </a:p>
          <a:p>
            <a:pPr algn="just" marL="1143725" indent="-285931" lvl="3">
              <a:lnSpc>
                <a:spcPts val="3919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rates of poverty?</a:t>
            </a:r>
          </a:p>
          <a:p>
            <a:pPr algn="just" marL="1143725" indent="-285931" lvl="3">
              <a:lnSpc>
                <a:spcPts val="3919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median incomes?</a:t>
            </a:r>
          </a:p>
          <a:p>
            <a:pPr algn="just" marL="1143725" indent="-285931" lvl="3">
              <a:lnSpc>
                <a:spcPts val="3919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racial segregation?</a:t>
            </a:r>
          </a:p>
          <a:p>
            <a:pPr algn="just" marL="1143725" indent="-285931" lvl="3">
              <a:lnSpc>
                <a:spcPts val="3919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crime rates?</a:t>
            </a:r>
          </a:p>
          <a:p>
            <a:pPr algn="just" marL="639958" indent="-21331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spatial data help identify neighborhoods that need priority reinvestment?</a:t>
            </a:r>
          </a:p>
          <a:p>
            <a:pPr algn="just" marL="639958" indent="-213319" lvl="2">
              <a:lnSpc>
                <a:spcPts val="39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056837" y="3417639"/>
            <a:ext cx="6644601" cy="18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Questions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8214595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0"/>
                </a:moveTo>
                <a:lnTo>
                  <a:pt x="0" y="0"/>
                </a:lnTo>
                <a:lnTo>
                  <a:pt x="0" y="2072405"/>
                </a:lnTo>
                <a:lnTo>
                  <a:pt x="2851802" y="2072405"/>
                </a:lnTo>
                <a:lnTo>
                  <a:pt x="2851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61415" y="386926"/>
            <a:ext cx="10443835" cy="10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599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Audience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2453" y="4758047"/>
            <a:ext cx="16164750" cy="38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My study adds value by:</a:t>
            </a:r>
          </a:p>
          <a:p>
            <a:pPr algn="l" marL="815219" indent="-271740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Performing spatial statistical analysis</a:t>
            </a:r>
          </a:p>
          <a:p>
            <a:pPr algn="l" marL="815219" indent="-271740" lvl="2">
              <a:lnSpc>
                <a:spcPts val="3863"/>
              </a:lnSpc>
            </a:pPr>
          </a:p>
          <a:p>
            <a:pPr algn="l" marL="815219" indent="-271740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Highlighting socio economic correlations</a:t>
            </a:r>
          </a:p>
          <a:p>
            <a:pPr algn="l" marL="815219" indent="-271740" lvl="2">
              <a:lnSpc>
                <a:spcPts val="3863"/>
              </a:lnSpc>
            </a:pPr>
          </a:p>
          <a:p>
            <a:pPr algn="l" marL="815219" indent="-271740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Visualizing vacancy patterns citywide</a:t>
            </a:r>
          </a:p>
          <a:p>
            <a:pPr algn="l" marL="815219" indent="-271740" lvl="2">
              <a:lnSpc>
                <a:spcPts val="3863"/>
              </a:lnSpc>
            </a:pPr>
          </a:p>
          <a:p>
            <a:pPr algn="l" marL="815219" indent="-271740" lvl="2">
              <a:lnSpc>
                <a:spcPts val="3863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Indentifying Investing locations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61600" y="5469450"/>
            <a:ext cx="1994916" cy="1994916"/>
            <a:chOff x="0" y="0"/>
            <a:chExt cx="2659888" cy="26598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9888" cy="2659888"/>
            </a:xfrm>
            <a:custGeom>
              <a:avLst/>
              <a:gdLst/>
              <a:ahLst/>
              <a:cxnLst/>
              <a:rect r="r" b="b" t="t" l="l"/>
              <a:pathLst>
                <a:path h="2659888" w="2659888">
                  <a:moveTo>
                    <a:pt x="0" y="0"/>
                  </a:moveTo>
                  <a:lnTo>
                    <a:pt x="2659888" y="0"/>
                  </a:lnTo>
                  <a:lnTo>
                    <a:pt x="2659888" y="2659888"/>
                  </a:lnTo>
                  <a:lnTo>
                    <a:pt x="0" y="265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105250" y="5617300"/>
            <a:ext cx="1994916" cy="1994916"/>
            <a:chOff x="0" y="0"/>
            <a:chExt cx="2659888" cy="26598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9888" cy="2659888"/>
            </a:xfrm>
            <a:custGeom>
              <a:avLst/>
              <a:gdLst/>
              <a:ahLst/>
              <a:cxnLst/>
              <a:rect r="r" b="b" t="t" l="l"/>
              <a:pathLst>
                <a:path h="2659888" w="2659888">
                  <a:moveTo>
                    <a:pt x="0" y="0"/>
                  </a:moveTo>
                  <a:lnTo>
                    <a:pt x="2659888" y="0"/>
                  </a:lnTo>
                  <a:lnTo>
                    <a:pt x="2659888" y="2659888"/>
                  </a:lnTo>
                  <a:lnTo>
                    <a:pt x="0" y="265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00200" y="8214950"/>
            <a:ext cx="1574006" cy="1574006"/>
            <a:chOff x="0" y="0"/>
            <a:chExt cx="2098675" cy="2098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8675" cy="2098675"/>
            </a:xfrm>
            <a:custGeom>
              <a:avLst/>
              <a:gdLst/>
              <a:ahLst/>
              <a:cxnLst/>
              <a:rect r="r" b="b" t="t" l="l"/>
              <a:pathLst>
                <a:path h="2098675" w="2098675">
                  <a:moveTo>
                    <a:pt x="0" y="0"/>
                  </a:moveTo>
                  <a:lnTo>
                    <a:pt x="2098675" y="0"/>
                  </a:lnTo>
                  <a:lnTo>
                    <a:pt x="2098675" y="2098675"/>
                  </a:lnTo>
                  <a:lnTo>
                    <a:pt x="0" y="209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83700" y="8214950"/>
            <a:ext cx="1831944" cy="1831944"/>
            <a:chOff x="0" y="0"/>
            <a:chExt cx="2442591" cy="24425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2591" cy="2442591"/>
            </a:xfrm>
            <a:custGeom>
              <a:avLst/>
              <a:gdLst/>
              <a:ahLst/>
              <a:cxnLst/>
              <a:rect r="r" b="b" t="t" l="l"/>
              <a:pathLst>
                <a:path h="2442591" w="2442591">
                  <a:moveTo>
                    <a:pt x="0" y="0"/>
                  </a:moveTo>
                  <a:lnTo>
                    <a:pt x="2442591" y="0"/>
                  </a:lnTo>
                  <a:lnTo>
                    <a:pt x="2442591" y="2442591"/>
                  </a:lnTo>
                  <a:lnTo>
                    <a:pt x="0" y="244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2269482"/>
            <a:ext cx="12468067" cy="177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Baltimore City Department of Housing &amp; Community Development </a:t>
            </a:r>
          </a:p>
          <a:p>
            <a:pPr algn="l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Estate Developers and Investors</a:t>
            </a:r>
          </a:p>
          <a:p>
            <a:pPr algn="l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Community Organizations and Nonprofits</a:t>
            </a:r>
          </a:p>
          <a:p>
            <a:pPr algn="l" marL="604519" indent="-302260" lvl="1">
              <a:lnSpc>
                <a:spcPts val="34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Residents and Students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8371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85704"/>
            <a:ext cx="18288000" cy="3672918"/>
          </a:xfrm>
          <a:custGeom>
            <a:avLst/>
            <a:gdLst/>
            <a:ahLst/>
            <a:cxnLst/>
            <a:rect r="r" b="b" t="t" l="l"/>
            <a:pathLst>
              <a:path h="3672918" w="18288000">
                <a:moveTo>
                  <a:pt x="0" y="0"/>
                </a:moveTo>
                <a:lnTo>
                  <a:pt x="18288000" y="0"/>
                </a:lnTo>
                <a:lnTo>
                  <a:pt x="18288000" y="3672918"/>
                </a:lnTo>
                <a:lnTo>
                  <a:pt x="0" y="367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214595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0"/>
                </a:moveTo>
                <a:lnTo>
                  <a:pt x="0" y="0"/>
                </a:lnTo>
                <a:lnTo>
                  <a:pt x="0" y="2072405"/>
                </a:lnTo>
                <a:lnTo>
                  <a:pt x="2851802" y="2072405"/>
                </a:lnTo>
                <a:lnTo>
                  <a:pt x="285180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18447" y="9063122"/>
            <a:ext cx="417696" cy="390356"/>
          </a:xfrm>
          <a:custGeom>
            <a:avLst/>
            <a:gdLst/>
            <a:ahLst/>
            <a:cxnLst/>
            <a:rect r="r" b="b" t="t" l="l"/>
            <a:pathLst>
              <a:path h="390356" w="417696">
                <a:moveTo>
                  <a:pt x="0" y="0"/>
                </a:moveTo>
                <a:lnTo>
                  <a:pt x="417696" y="0"/>
                </a:lnTo>
                <a:lnTo>
                  <a:pt x="417696" y="390356"/>
                </a:lnTo>
                <a:lnTo>
                  <a:pt x="0" y="3903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70" r="0" b="-107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59764" y="249099"/>
            <a:ext cx="14401661" cy="10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5599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Geographic Area: Baltimore City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29804" y="1802600"/>
            <a:ext cx="5418392" cy="2907316"/>
            <a:chOff x="0" y="0"/>
            <a:chExt cx="7224522" cy="38764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24522" cy="3876421"/>
            </a:xfrm>
            <a:custGeom>
              <a:avLst/>
              <a:gdLst/>
              <a:ahLst/>
              <a:cxnLst/>
              <a:rect r="r" b="b" t="t" l="l"/>
              <a:pathLst>
                <a:path h="3876421" w="7224522">
                  <a:moveTo>
                    <a:pt x="0" y="0"/>
                  </a:moveTo>
                  <a:lnTo>
                    <a:pt x="7224522" y="0"/>
                  </a:lnTo>
                  <a:lnTo>
                    <a:pt x="7224522" y="3876421"/>
                  </a:lnTo>
                  <a:lnTo>
                    <a:pt x="0" y="3876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75" r="0" b="-7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83168" y="5143500"/>
            <a:ext cx="2335911" cy="2907316"/>
            <a:chOff x="0" y="0"/>
            <a:chExt cx="3114548" cy="38764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14548" cy="3876421"/>
            </a:xfrm>
            <a:custGeom>
              <a:avLst/>
              <a:gdLst/>
              <a:ahLst/>
              <a:cxnLst/>
              <a:rect r="r" b="b" t="t" l="l"/>
              <a:pathLst>
                <a:path h="3876421" w="3114548">
                  <a:moveTo>
                    <a:pt x="0" y="0"/>
                  </a:moveTo>
                  <a:lnTo>
                    <a:pt x="3114548" y="0"/>
                  </a:lnTo>
                  <a:lnTo>
                    <a:pt x="3114548" y="3876421"/>
                  </a:lnTo>
                  <a:lnTo>
                    <a:pt x="0" y="3876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78" r="0" b="-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46371" y="3152344"/>
            <a:ext cx="90080" cy="1995919"/>
            <a:chOff x="0" y="0"/>
            <a:chExt cx="120107" cy="26612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6096"/>
              <a:ext cx="120142" cy="2649093"/>
            </a:xfrm>
            <a:custGeom>
              <a:avLst/>
              <a:gdLst/>
              <a:ahLst/>
              <a:cxnLst/>
              <a:rect r="r" b="b" t="t" l="l"/>
              <a:pathLst>
                <a:path h="2649093" w="120142">
                  <a:moveTo>
                    <a:pt x="120142" y="508"/>
                  </a:moveTo>
                  <a:lnTo>
                    <a:pt x="12700" y="2649093"/>
                  </a:lnTo>
                  <a:lnTo>
                    <a:pt x="0" y="2648585"/>
                  </a:lnTo>
                  <a:lnTo>
                    <a:pt x="107442" y="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47075" y="7778524"/>
            <a:ext cx="4445230" cy="1939737"/>
            <a:chOff x="0" y="0"/>
            <a:chExt cx="5926973" cy="2586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26963" cy="2586355"/>
            </a:xfrm>
            <a:custGeom>
              <a:avLst/>
              <a:gdLst/>
              <a:ahLst/>
              <a:cxnLst/>
              <a:rect r="r" b="b" t="t" l="l"/>
              <a:pathLst>
                <a:path h="2586355" w="5926963">
                  <a:moveTo>
                    <a:pt x="0" y="0"/>
                  </a:moveTo>
                  <a:lnTo>
                    <a:pt x="5926963" y="0"/>
                  </a:lnTo>
                  <a:lnTo>
                    <a:pt x="5926963" y="2586355"/>
                  </a:lnTo>
                  <a:lnTo>
                    <a:pt x="0" y="2586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24125" y="2391719"/>
            <a:ext cx="10522950" cy="487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959" indent="-213320" lvl="2">
              <a:lnSpc>
                <a:spcPts val="55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Baltimore City, central Maryland (population approx 568,271, 2024 U.S. Census bureau).</a:t>
            </a:r>
          </a:p>
          <a:p>
            <a:pPr algn="l" marL="639959" indent="-213320" lvl="2">
              <a:lnSpc>
                <a:spcPts val="55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uses 199 census tracts, allowing neighborhood-level spatial analysis.</a:t>
            </a:r>
          </a:p>
          <a:p>
            <a:pPr algn="l" marL="639959" indent="-213320" lvl="2">
              <a:lnSpc>
                <a:spcPts val="559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Census Tracts are small geographic units that reveal localized patterns, and they are reliable because they include ACS demographic and socioeconomic estimates.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6639" y="1447182"/>
            <a:ext cx="5326674" cy="6907493"/>
          </a:xfrm>
          <a:custGeom>
            <a:avLst/>
            <a:gdLst/>
            <a:ahLst/>
            <a:cxnLst/>
            <a:rect r="r" b="b" t="t" l="l"/>
            <a:pathLst>
              <a:path h="6907493" w="5326674">
                <a:moveTo>
                  <a:pt x="0" y="0"/>
                </a:moveTo>
                <a:lnTo>
                  <a:pt x="5326674" y="0"/>
                </a:lnTo>
                <a:lnTo>
                  <a:pt x="5326674" y="6907493"/>
                </a:lnTo>
                <a:lnTo>
                  <a:pt x="0" y="69074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26955" y="635635"/>
            <a:ext cx="9532345" cy="893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Baltimore City Department of Housing and Community Development (DHCD) -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Vacant Building Notices</a:t>
            </a:r>
          </a:p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Baltimore City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Open Data Portal</a:t>
            </a:r>
          </a:p>
          <a:p>
            <a:pPr algn="l" marL="1208608" indent="-402869" lvl="2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 1 Crime Data (2023–2025)</a:t>
            </a:r>
          </a:p>
          <a:p>
            <a:pPr algn="l" marL="1208608" indent="-40286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311 Service Requests (Illegal Dumping, Litter, Sanitation; 2023–2025)</a:t>
            </a:r>
          </a:p>
          <a:p>
            <a:pPr algn="l" marL="1208608" indent="-402869" lvl="2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Pub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lic Transit Stops (Bus and Rail)</a:t>
            </a:r>
          </a:p>
          <a:p>
            <a:pPr algn="l" marL="1208608" indent="-402869" lvl="2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Schools (Public and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Private)</a:t>
            </a:r>
          </a:p>
          <a:p>
            <a:pPr algn="l" marL="1208608" indent="-40286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Universities and Colleges</a:t>
            </a:r>
          </a:p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U.S.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Census Bureau</a:t>
            </a:r>
          </a:p>
          <a:p>
            <a:pPr algn="l" marL="1208608" indent="-40286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Ameri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Community Survey (ACS) Demographic and Socioeconomic Data</a:t>
            </a:r>
          </a:p>
          <a:p>
            <a:pPr algn="l" marL="1208608" indent="-402869" lvl="2">
              <a:lnSpc>
                <a:spcPts val="3918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Census Tract Boundaries</a:t>
            </a:r>
          </a:p>
          <a:p>
            <a:pPr algn="l">
              <a:lnSpc>
                <a:spcPts val="3918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Maryland Department of Planning / State  Department of Assessments and Taxation (SDAT)</a:t>
            </a:r>
          </a:p>
          <a:p>
            <a:pPr algn="l" marL="1208608" indent="-402869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Parcel and Building Footprint Data</a:t>
            </a:r>
          </a:p>
          <a:p>
            <a:pPr algn="l" marL="639958" indent="-213319" lvl="2">
              <a:lnSpc>
                <a:spcPts val="39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36639" y="3424312"/>
            <a:ext cx="4677520" cy="2162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900405" y="318782"/>
            <a:ext cx="7246485" cy="9380563"/>
            <a:chOff x="0" y="0"/>
            <a:chExt cx="9661980" cy="125074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62033" cy="12507468"/>
            </a:xfrm>
            <a:custGeom>
              <a:avLst/>
              <a:gdLst/>
              <a:ahLst/>
              <a:cxnLst/>
              <a:rect r="r" b="b" t="t" l="l"/>
              <a:pathLst>
                <a:path h="12507468" w="9662033">
                  <a:moveTo>
                    <a:pt x="0" y="0"/>
                  </a:moveTo>
                  <a:lnTo>
                    <a:pt x="9662033" y="0"/>
                  </a:lnTo>
                  <a:lnTo>
                    <a:pt x="9662033" y="12507468"/>
                  </a:lnTo>
                  <a:lnTo>
                    <a:pt x="0" y="12507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715485"/>
            <a:ext cx="6271937" cy="482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1079068" indent="-35968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the location of all recorded vacant building notices in Baltimore City.</a:t>
            </a:r>
          </a:p>
          <a:p>
            <a:pPr algn="l" marL="1079068" indent="-35968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Vacant properties are concentrated in West Baltimore and parts of East Baltimore.</a:t>
            </a:r>
          </a:p>
          <a:p>
            <a:pPr algn="l" marL="1079068" indent="-359689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Northern and southeastern neighborhoods show fewer vacant buildings.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71724" y="1465447"/>
            <a:ext cx="5883065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Vacant Building Notices (Points Map)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793698" y="489246"/>
            <a:ext cx="8279448" cy="8769054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1061" y="2592704"/>
            <a:ext cx="6390322" cy="594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map displays clusters of high vacancy density across the city.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hotspots appear in West Baltimore and Central East Baltimore.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Smaller secondary clusters appear in Southwest Baltimore.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Low-density areas are found in North Baltimore and along the waterfront.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Highlights neighborhoods with the most intense vacancy pressure.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429" y="1238090"/>
            <a:ext cx="6216333" cy="48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Kernel Density of Vacant Properties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41554" y="276302"/>
            <a:ext cx="8480502" cy="8981998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303791"/>
            <a:ext cx="7173149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221" indent="-205740" lvl="2">
              <a:lnSpc>
                <a:spcPts val="459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the total number of vacant buildings within each census tract.</a:t>
            </a:r>
          </a:p>
          <a:p>
            <a:pPr algn="l" marL="617221" indent="-205740" lvl="2">
              <a:lnSpc>
                <a:spcPts val="459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Highest counts occur in tracts in West Baltimore and parts of East Baltimore.</a:t>
            </a:r>
          </a:p>
          <a:p>
            <a:pPr algn="l" marL="617221" indent="-205740" lvl="2">
              <a:lnSpc>
                <a:spcPts val="459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Many northern and south-central tracts have very low or no vacancy.</a:t>
            </a:r>
          </a:p>
          <a:p>
            <a:pPr algn="l" marL="617221" indent="-205740" lvl="2">
              <a:lnSpc>
                <a:spcPts val="459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Reveals large geographic differences in neighborhood conditions.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886" y="1996205"/>
            <a:ext cx="7188840" cy="96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Vacant Properties by Census Tract (Counts)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09600" y="185738"/>
            <a:ext cx="8704489" cy="9219229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37469" y="2870036"/>
            <a:ext cx="7872131" cy="365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vacancy as a percent of total housing units, not just raw counts.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vacancy rates are concentrated in West Baltimore and Central East Baltimore.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vacancy rates occur in the northern and southeastern parts of the city.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Highlights neighborhood housing distress more clearly than raw counts.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7002" y="1996205"/>
            <a:ext cx="5369084" cy="48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Vacancy Rate by Census Tract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4315" y="7788851"/>
            <a:ext cx="6892564" cy="96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Vacancy Rate=Total Property Count/Vacant Property Count​×100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9440" y="262201"/>
            <a:ext cx="8460481" cy="8960792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73630" y="262201"/>
            <a:ext cx="8614370" cy="9123782"/>
            <a:chOff x="0" y="0"/>
            <a:chExt cx="9707245" cy="102812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" t="0" r="-14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60805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09600" y="240995"/>
            <a:ext cx="8480502" cy="8981998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4" t="0" r="-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72942" y="1950314"/>
            <a:ext cx="5539144" cy="627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124" indent="-280562" lvl="1">
              <a:lnSpc>
                <a:spcPts val="413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Height of each tract reflects median household income.</a:t>
            </a:r>
          </a:p>
          <a:p>
            <a:pPr algn="l" marL="561124" indent="-280562" lvl="1">
              <a:lnSpc>
                <a:spcPts val="413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Color represents vacancy rate.</a:t>
            </a:r>
          </a:p>
          <a:p>
            <a:pPr algn="l" marL="561124" indent="-280562" lvl="1">
              <a:lnSpc>
                <a:spcPts val="413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income tracts with high vacancy appear as short blocks with darker colors.</a:t>
            </a:r>
          </a:p>
          <a:p>
            <a:pPr algn="l" marL="561124" indent="-280562" lvl="1">
              <a:lnSpc>
                <a:spcPts val="413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income areas appear as tall blocks with low vacancy.</a:t>
            </a:r>
          </a:p>
          <a:p>
            <a:pPr algn="l" marL="561124" indent="-280562" lvl="1">
              <a:lnSpc>
                <a:spcPts val="4132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the strong connection between low income and high vacancy.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" t="0" r="-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09662" y="268137"/>
            <a:ext cx="8488212" cy="8990163"/>
            <a:chOff x="0" y="0"/>
            <a:chExt cx="9707245" cy="10281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07245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9707245">
                  <a:moveTo>
                    <a:pt x="0" y="0"/>
                  </a:moveTo>
                  <a:lnTo>
                    <a:pt x="9707245" y="0"/>
                  </a:lnTo>
                  <a:lnTo>
                    <a:pt x="9707245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78860" y="2722855"/>
            <a:ext cx="6232046" cy="594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Vacancy and Income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Circle size shows the number of vacant buildings in each tract.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Color shows median household income.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circles in light colored tracts indicate high vacancy and low income.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Smaller circles in darker tracts indicate low vacancy and higher income.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Illustrates income and vacancy patterns in a single view.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5871" y="1622835"/>
            <a:ext cx="4567555" cy="44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Proportional Symbol Map: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77339" y="1028700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248869" y="108106"/>
            <a:ext cx="9610572" cy="10178894"/>
          </a:xfrm>
          <a:custGeom>
            <a:avLst/>
            <a:gdLst/>
            <a:ahLst/>
            <a:cxnLst/>
            <a:rect r="r" b="b" t="t" l="l"/>
            <a:pathLst>
              <a:path h="10178894" w="9610572">
                <a:moveTo>
                  <a:pt x="0" y="0"/>
                </a:moveTo>
                <a:lnTo>
                  <a:pt x="9610572" y="0"/>
                </a:lnTo>
                <a:lnTo>
                  <a:pt x="9610572" y="10178894"/>
                </a:lnTo>
                <a:lnTo>
                  <a:pt x="0" y="10178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293" y="5050155"/>
            <a:ext cx="4908920" cy="302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Neighborhoods with high vacancy and high crime rates include </a:t>
            </a:r>
          </a:p>
          <a:p>
            <a:pPr algn="l" marL="582946" indent="-291473" lvl="1">
              <a:lnSpc>
                <a:spcPts val="3375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Millhill</a:t>
            </a:r>
          </a:p>
          <a:p>
            <a:pPr algn="l" marL="582946" indent="-291473" lvl="1">
              <a:lnSpc>
                <a:spcPts val="3375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East Baltimore Midway</a:t>
            </a:r>
          </a:p>
          <a:p>
            <a:pPr algn="l" marL="582946" indent="-291473" lvl="1">
              <a:lnSpc>
                <a:spcPts val="3375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Mount Clare</a:t>
            </a:r>
          </a:p>
          <a:p>
            <a:pPr algn="l" marL="582946" indent="-291473" lvl="1">
              <a:lnSpc>
                <a:spcPts val="3375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Mondawmin.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352326"/>
            <a:ext cx="9525" cy="1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145875" y="9458508"/>
            <a:ext cx="2923631" cy="54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Source: Part 1 Crime Data (Legac</a:t>
            </a:r>
            <a:r>
              <a:rPr lang="en-US" sz="15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y SRS), Baltimore city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9738" y="6765837"/>
            <a:ext cx="7509633" cy="298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311 Litter categories used here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HCD – Illegal Dumping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HCD - Sanitation property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 – Dirty Alley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 – Dirty Street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 – Public (Corner) Trash Can Issue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 – Public (Corner) Trash Can Request / Removal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52396" y="295260"/>
            <a:ext cx="8805266" cy="9325965"/>
          </a:xfrm>
          <a:custGeom>
            <a:avLst/>
            <a:gdLst/>
            <a:ahLst/>
            <a:cxnLst/>
            <a:rect r="r" b="b" t="t" l="l"/>
            <a:pathLst>
              <a:path h="9325965" w="8805266">
                <a:moveTo>
                  <a:pt x="0" y="0"/>
                </a:moveTo>
                <a:lnTo>
                  <a:pt x="8805266" y="0"/>
                </a:lnTo>
                <a:lnTo>
                  <a:pt x="8805266" y="9325965"/>
                </a:lnTo>
                <a:lnTo>
                  <a:pt x="0" y="9325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4592" y="784260"/>
            <a:ext cx="7939924" cy="559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Census tracts with high numbers of vacant buildings also show high levels of litter and sanitation-related 311 complaints.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Concentrations are observed in West Baltimore and parts of Central and East Baltimore.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Tracts with low vacancy generally report fewer litter complaints, indicating more stable neighborhood conditions.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spatial overlap suggests that vacant properties contribute to environmental disorder, including illegal dumping and sanitation issues.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Litter complaints are more dispersed than vacancy, but the highest concentrations align with major vacancy clusters.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736568"/>
            <a:ext cx="6190487" cy="80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z-score :</a:t>
            </a:r>
          </a:p>
          <a:p>
            <a:pPr algn="ctr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z=(x−mean)/standard deviation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193" y="5054310"/>
            <a:ext cx="7224603" cy="158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median income, the z-score values are inverted as Higher income = better condition and lower income = more stress</a:t>
            </a:r>
          </a:p>
          <a:p>
            <a:pPr algn="l">
              <a:lnSpc>
                <a:spcPts val="312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9193" y="6600454"/>
            <a:ext cx="6536338" cy="80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Stress index =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!z_vacancy! + !z_crime! + !z_litter! + !z_income_inv!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193" y="1637902"/>
            <a:ext cx="7505489" cy="158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neighborhood stress index highlights census tracts experiencing cumulative challenges related to housing vacancy, crime, low income, and environmental disorder.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9149" y="7952325"/>
            <a:ext cx="5972493" cy="158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High-stress clusters appear clearly in:</a:t>
            </a:r>
          </a:p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West Baltimore</a:t>
            </a:r>
          </a:p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Parts of East Baltimore</a:t>
            </a:r>
          </a:p>
          <a:p>
            <a:pPr algn="l">
              <a:lnSpc>
                <a:spcPts val="31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South Baltimore waterfront edge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86363" y="82056"/>
            <a:ext cx="9272937" cy="9821293"/>
          </a:xfrm>
          <a:custGeom>
            <a:avLst/>
            <a:gdLst/>
            <a:ahLst/>
            <a:cxnLst/>
            <a:rect r="r" b="b" t="t" l="l"/>
            <a:pathLst>
              <a:path h="9821293" w="9272937">
                <a:moveTo>
                  <a:pt x="0" y="0"/>
                </a:moveTo>
                <a:lnTo>
                  <a:pt x="9272937" y="0"/>
                </a:lnTo>
                <a:lnTo>
                  <a:pt x="9272937" y="9821293"/>
                </a:lnTo>
                <a:lnTo>
                  <a:pt x="0" y="98212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9149" y="422578"/>
            <a:ext cx="541258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venir Next Bold"/>
                <a:ea typeface="Avenir Next Bold"/>
                <a:cs typeface="Avenir Next Bold"/>
                <a:sym typeface="Avenir Next Bold"/>
              </a:rPr>
              <a:t>Neighborhood Stress Index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259" y="524561"/>
            <a:ext cx="7687824" cy="2567042"/>
          </a:xfrm>
          <a:custGeom>
            <a:avLst/>
            <a:gdLst/>
            <a:ahLst/>
            <a:cxnLst/>
            <a:rect r="r" b="b" t="t" l="l"/>
            <a:pathLst>
              <a:path h="2567042" w="7687824">
                <a:moveTo>
                  <a:pt x="0" y="0"/>
                </a:moveTo>
                <a:lnTo>
                  <a:pt x="7687824" y="0"/>
                </a:lnTo>
                <a:lnTo>
                  <a:pt x="7687824" y="2567041"/>
                </a:lnTo>
                <a:lnTo>
                  <a:pt x="0" y="256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407389" y="3398680"/>
          <a:ext cx="10687050" cy="7790841"/>
        </p:xfrm>
        <a:graphic>
          <a:graphicData uri="http://schemas.openxmlformats.org/presentationml/2006/ole">
            <p:oleObj imgW="12814300" imgH="9918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9015063" y="232854"/>
            <a:ext cx="9272937" cy="9821293"/>
          </a:xfrm>
          <a:custGeom>
            <a:avLst/>
            <a:gdLst/>
            <a:ahLst/>
            <a:cxnLst/>
            <a:rect r="r" b="b" t="t" l="l"/>
            <a:pathLst>
              <a:path h="9821293" w="9272937">
                <a:moveTo>
                  <a:pt x="0" y="0"/>
                </a:moveTo>
                <a:lnTo>
                  <a:pt x="9272937" y="0"/>
                </a:lnTo>
                <a:lnTo>
                  <a:pt x="9272937" y="9821292"/>
                </a:lnTo>
                <a:lnTo>
                  <a:pt x="0" y="9821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18259" y="6581242"/>
          <a:ext cx="13026145" cy="4245407"/>
        </p:xfrm>
        <a:graphic>
          <a:graphicData uri="http://schemas.openxmlformats.org/presentationml/2006/ole">
            <p:oleObj imgW="15621000" imgH="68453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8371" y="569329"/>
            <a:ext cx="9149629" cy="3072302"/>
          </a:xfrm>
          <a:custGeom>
            <a:avLst/>
            <a:gdLst/>
            <a:ahLst/>
            <a:cxnLst/>
            <a:rect r="r" b="b" t="t" l="l"/>
            <a:pathLst>
              <a:path h="3072302" w="9149629">
                <a:moveTo>
                  <a:pt x="0" y="0"/>
                </a:moveTo>
                <a:lnTo>
                  <a:pt x="9149629" y="0"/>
                </a:lnTo>
                <a:lnTo>
                  <a:pt x="9149629" y="3072302"/>
                </a:lnTo>
                <a:lnTo>
                  <a:pt x="0" y="30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85704"/>
            <a:ext cx="18288000" cy="3672918"/>
          </a:xfrm>
          <a:custGeom>
            <a:avLst/>
            <a:gdLst/>
            <a:ahLst/>
            <a:cxnLst/>
            <a:rect r="r" b="b" t="t" l="l"/>
            <a:pathLst>
              <a:path h="3672918" w="18288000">
                <a:moveTo>
                  <a:pt x="0" y="0"/>
                </a:moveTo>
                <a:lnTo>
                  <a:pt x="18288000" y="0"/>
                </a:lnTo>
                <a:lnTo>
                  <a:pt x="18288000" y="3672918"/>
                </a:lnTo>
                <a:lnTo>
                  <a:pt x="0" y="3672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1540" y="1492205"/>
            <a:ext cx="17598150" cy="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Baltimore City Department of Housing &amp; Community Development  already tracks vacancy through programs like: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840050" y="2991950"/>
            <a:ext cx="3211830" cy="1192721"/>
            <a:chOff x="0" y="0"/>
            <a:chExt cx="4282440" cy="15902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1590294"/>
            </a:xfrm>
            <a:custGeom>
              <a:avLst/>
              <a:gdLst/>
              <a:ahLst/>
              <a:cxnLst/>
              <a:rect r="r" b="b" t="t" l="l"/>
              <a:pathLst>
                <a:path h="1590294" w="4282440">
                  <a:moveTo>
                    <a:pt x="0" y="0"/>
                  </a:moveTo>
                  <a:lnTo>
                    <a:pt x="4282440" y="0"/>
                  </a:lnTo>
                  <a:lnTo>
                    <a:pt x="4282440" y="1590294"/>
                  </a:lnTo>
                  <a:lnTo>
                    <a:pt x="0" y="1590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39296" y="3200064"/>
            <a:ext cx="4509611" cy="1317117"/>
            <a:chOff x="0" y="0"/>
            <a:chExt cx="6012815" cy="1756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12815" cy="1756156"/>
            </a:xfrm>
            <a:custGeom>
              <a:avLst/>
              <a:gdLst/>
              <a:ahLst/>
              <a:cxnLst/>
              <a:rect r="r" b="b" t="t" l="l"/>
              <a:pathLst>
                <a:path h="1756156" w="6012815">
                  <a:moveTo>
                    <a:pt x="0" y="0"/>
                  </a:moveTo>
                  <a:lnTo>
                    <a:pt x="6012815" y="0"/>
                  </a:lnTo>
                  <a:lnTo>
                    <a:pt x="6012815" y="1756156"/>
                  </a:lnTo>
                  <a:lnTo>
                    <a:pt x="0" y="175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96" t="0" r="-2009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69950" y="2965524"/>
            <a:ext cx="3211830" cy="1245584"/>
            <a:chOff x="0" y="0"/>
            <a:chExt cx="4282440" cy="16607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2440" cy="1660779"/>
            </a:xfrm>
            <a:custGeom>
              <a:avLst/>
              <a:gdLst/>
              <a:ahLst/>
              <a:cxnLst/>
              <a:rect r="r" b="b" t="t" l="l"/>
              <a:pathLst>
                <a:path h="1660779" w="4282440">
                  <a:moveTo>
                    <a:pt x="0" y="0"/>
                  </a:moveTo>
                  <a:lnTo>
                    <a:pt x="4282440" y="0"/>
                  </a:lnTo>
                  <a:lnTo>
                    <a:pt x="4282440" y="1660779"/>
                  </a:lnTo>
                  <a:lnTo>
                    <a:pt x="0" y="1660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06002" y="3290596"/>
            <a:ext cx="4059936" cy="977170"/>
            <a:chOff x="0" y="0"/>
            <a:chExt cx="5413248" cy="1302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13248" cy="1302893"/>
            </a:xfrm>
            <a:custGeom>
              <a:avLst/>
              <a:gdLst/>
              <a:ahLst/>
              <a:cxnLst/>
              <a:rect r="r" b="b" t="t" l="l"/>
              <a:pathLst>
                <a:path h="1302893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302893"/>
                  </a:lnTo>
                  <a:lnTo>
                    <a:pt x="0" y="1302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9296" y="5933764"/>
            <a:ext cx="17948704" cy="235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Developer Analysis Question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Which vacant properties are located in neighborhoods with manageable crime levels, moderate income conditions, lower environmental disorder, and good access to transit and educational institutions?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the ranking to the vacant buildings as perthe  opportunity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0" y="0"/>
            <a:ext cx="2851802" cy="2072405"/>
          </a:xfrm>
          <a:custGeom>
            <a:avLst/>
            <a:gdLst/>
            <a:ahLst/>
            <a:cxnLst/>
            <a:rect r="r" b="b" t="t" l="l"/>
            <a:pathLst>
              <a:path h="2072405" w="2851802">
                <a:moveTo>
                  <a:pt x="2851802" y="2072405"/>
                </a:moveTo>
                <a:lnTo>
                  <a:pt x="0" y="2072405"/>
                </a:lnTo>
                <a:lnTo>
                  <a:pt x="0" y="0"/>
                </a:lnTo>
                <a:lnTo>
                  <a:pt x="2851802" y="0"/>
                </a:lnTo>
                <a:lnTo>
                  <a:pt x="2851802" y="207240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" t="0" r="-2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9662" y="6580110"/>
            <a:ext cx="9878338" cy="3385163"/>
          </a:xfrm>
          <a:custGeom>
            <a:avLst/>
            <a:gdLst/>
            <a:ahLst/>
            <a:cxnLst/>
            <a:rect r="r" b="b" t="t" l="l"/>
            <a:pathLst>
              <a:path h="3385163" w="9878338">
                <a:moveTo>
                  <a:pt x="0" y="0"/>
                </a:moveTo>
                <a:lnTo>
                  <a:pt x="9878338" y="0"/>
                </a:lnTo>
                <a:lnTo>
                  <a:pt x="9878338" y="3385163"/>
                </a:lnTo>
                <a:lnTo>
                  <a:pt x="0" y="3385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709600" y="6532500"/>
            <a:ext cx="14565532" cy="6008282"/>
          </a:xfrm>
          <a:custGeom>
            <a:avLst/>
            <a:gdLst/>
            <a:ahLst/>
            <a:cxnLst/>
            <a:rect r="r" b="b" t="t" l="l"/>
            <a:pathLst>
              <a:path h="6008282" w="14565532">
                <a:moveTo>
                  <a:pt x="14565532" y="0"/>
                </a:moveTo>
                <a:lnTo>
                  <a:pt x="0" y="0"/>
                </a:lnTo>
                <a:lnTo>
                  <a:pt x="0" y="6008282"/>
                </a:lnTo>
                <a:lnTo>
                  <a:pt x="14565532" y="6008282"/>
                </a:lnTo>
                <a:lnTo>
                  <a:pt x="14565532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" t="0" r="-9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47822" y="8480712"/>
            <a:ext cx="1484561" cy="1484561"/>
          </a:xfrm>
          <a:custGeom>
            <a:avLst/>
            <a:gdLst/>
            <a:ahLst/>
            <a:cxnLst/>
            <a:rect r="r" b="b" t="t" l="l"/>
            <a:pathLst>
              <a:path h="1484561" w="1484561">
                <a:moveTo>
                  <a:pt x="1484561" y="0"/>
                </a:moveTo>
                <a:lnTo>
                  <a:pt x="0" y="0"/>
                </a:lnTo>
                <a:lnTo>
                  <a:pt x="0" y="1484561"/>
                </a:lnTo>
                <a:lnTo>
                  <a:pt x="1484561" y="1484561"/>
                </a:lnTo>
                <a:lnTo>
                  <a:pt x="14845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4133" y="689537"/>
            <a:ext cx="7875529" cy="522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Methodology 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Selected the moderate stress tracts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filtered the vacant building notices in the moderate tracts( 2212 of 12240)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Added the bus and rail stops, the University, the college, and the school locations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Bustations with 0.25 mile buffer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Rail stations with 0.5mile buffer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Educational institutions with 1 mile buffer</a:t>
            </a: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582684" y="95507"/>
            <a:ext cx="9532293" cy="10095986"/>
            <a:chOff x="0" y="0"/>
            <a:chExt cx="12709724" cy="134613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9724" cy="13461314"/>
            </a:xfrm>
            <a:custGeom>
              <a:avLst/>
              <a:gdLst/>
              <a:ahLst/>
              <a:cxnLst/>
              <a:rect r="r" b="b" t="t" l="l"/>
              <a:pathLst>
                <a:path h="13461314" w="12709724">
                  <a:moveTo>
                    <a:pt x="0" y="0"/>
                  </a:moveTo>
                  <a:lnTo>
                    <a:pt x="12709724" y="0"/>
                  </a:lnTo>
                  <a:lnTo>
                    <a:pt x="12709724" y="13461314"/>
                  </a:lnTo>
                  <a:lnTo>
                    <a:pt x="0" y="13461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23830" y="4204984"/>
              <a:ext cx="127973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Edgewood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70251" y="6615722"/>
              <a:ext cx="2285154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Carroll-South Hilton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824002" y="7082648"/>
              <a:ext cx="106172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Westport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290309" y="7580932"/>
              <a:ext cx="104457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Lakeland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975927" y="6397282"/>
              <a:ext cx="1761278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Franklin square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326438" y="5937515"/>
              <a:ext cx="143425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Mount Clare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819644" y="5212747"/>
              <a:ext cx="2138469" cy="278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Penrose/Fayette Street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93549" y="4096430"/>
              <a:ext cx="267716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Sandtown - WInchester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205975" y="5112015"/>
              <a:ext cx="119951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Poppleton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689658" y="4138944"/>
              <a:ext cx="214206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Midtown Beledere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60692" y="4377704"/>
              <a:ext cx="195537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Johnston Square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303486" y="5506752"/>
              <a:ext cx="1014518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Oldtown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033867" y="3986544"/>
              <a:ext cx="136440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Middle East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218955" y="5264415"/>
              <a:ext cx="235669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Baltimore Highlands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719528" y="4682504"/>
              <a:ext cx="252666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Petterson Park Nghbd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218955" y="2816435"/>
              <a:ext cx="152781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Belair-Edison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734304" y="3129179"/>
              <a:ext cx="83481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Barclay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093654" y="2016038"/>
              <a:ext cx="178625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Kenilworth Park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821671" y="1577139"/>
              <a:ext cx="235013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Avenir Next"/>
                  <a:ea typeface="Avenir Next"/>
                  <a:cs typeface="Avenir Next"/>
                  <a:sym typeface="Avenir Next"/>
                </a:rPr>
                <a:t>Central Park Heights</a:t>
              </a:r>
            </a:p>
          </p:txBody>
        </p:sp>
      </p:grpSp>
      <p:graphicFrame>
        <p:nvGraphicFramePr>
          <p:cNvPr name="Object 27" id="27"/>
          <p:cNvGraphicFramePr/>
          <p:nvPr/>
        </p:nvGraphicFramePr>
        <p:xfrm>
          <a:off x="213903" y="6805099"/>
          <a:ext cx="9946424" cy="6061276"/>
        </p:xfrm>
        <a:graphic>
          <a:graphicData uri="http://schemas.openxmlformats.org/presentationml/2006/ole">
            <p:oleObj imgW="11925300" imgH="8039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42327"/>
            <a:ext cx="12817816" cy="4304021"/>
          </a:xfrm>
          <a:custGeom>
            <a:avLst/>
            <a:gdLst/>
            <a:ahLst/>
            <a:cxnLst/>
            <a:rect r="r" b="b" t="t" l="l"/>
            <a:pathLst>
              <a:path h="4304021" w="12817816">
                <a:moveTo>
                  <a:pt x="0" y="0"/>
                </a:moveTo>
                <a:lnTo>
                  <a:pt x="12817816" y="0"/>
                </a:lnTo>
                <a:lnTo>
                  <a:pt x="12817816" y="4304021"/>
                </a:lnTo>
                <a:lnTo>
                  <a:pt x="0" y="43040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3" t="0" r="-3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115066"/>
            <a:ext cx="12817816" cy="3672918"/>
          </a:xfrm>
          <a:custGeom>
            <a:avLst/>
            <a:gdLst/>
            <a:ahLst/>
            <a:cxnLst/>
            <a:rect r="r" b="b" t="t" l="l"/>
            <a:pathLst>
              <a:path h="3672918" w="12817816">
                <a:moveTo>
                  <a:pt x="0" y="0"/>
                </a:moveTo>
                <a:lnTo>
                  <a:pt x="12817816" y="0"/>
                </a:lnTo>
                <a:lnTo>
                  <a:pt x="12817816" y="3672918"/>
                </a:lnTo>
                <a:lnTo>
                  <a:pt x="0" y="3672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26219" y="2997655"/>
            <a:ext cx="7161781" cy="7289345"/>
            <a:chOff x="0" y="0"/>
            <a:chExt cx="9549041" cy="971912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9549003" cy="9719183"/>
            </a:xfrm>
            <a:custGeom>
              <a:avLst/>
              <a:gdLst/>
              <a:ahLst/>
              <a:cxnLst/>
              <a:rect r="r" b="b" t="t" l="l"/>
              <a:pathLst>
                <a:path h="9719183" w="9549003">
                  <a:moveTo>
                    <a:pt x="9549003" y="0"/>
                  </a:moveTo>
                  <a:lnTo>
                    <a:pt x="0" y="0"/>
                  </a:lnTo>
                  <a:lnTo>
                    <a:pt x="0" y="9719183"/>
                  </a:lnTo>
                  <a:lnTo>
                    <a:pt x="9549003" y="9719183"/>
                  </a:lnTo>
                  <a:lnTo>
                    <a:pt x="9549003" y="0"/>
                  </a:lnTo>
                  <a:close/>
                </a:path>
              </a:pathLst>
            </a:custGeom>
            <a:blipFill>
              <a:blip r:embed="rId7"/>
              <a:stretch>
                <a:fillRect l="-14" t="0" r="-1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15371915" y="0"/>
            <a:ext cx="2916085" cy="2216486"/>
          </a:xfrm>
          <a:custGeom>
            <a:avLst/>
            <a:gdLst/>
            <a:ahLst/>
            <a:cxnLst/>
            <a:rect r="r" b="b" t="t" l="l"/>
            <a:pathLst>
              <a:path h="2216486" w="2916085">
                <a:moveTo>
                  <a:pt x="0" y="2216486"/>
                </a:moveTo>
                <a:lnTo>
                  <a:pt x="2916085" y="2216486"/>
                </a:lnTo>
                <a:lnTo>
                  <a:pt x="2916085" y="0"/>
                </a:lnTo>
                <a:lnTo>
                  <a:pt x="0" y="0"/>
                </a:lnTo>
                <a:lnTo>
                  <a:pt x="0" y="221648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9947554" y="1108243"/>
            <a:ext cx="1944369" cy="1944369"/>
          </a:xfrm>
          <a:custGeom>
            <a:avLst/>
            <a:gdLst/>
            <a:ahLst/>
            <a:cxnLst/>
            <a:rect r="r" b="b" t="t" l="l"/>
            <a:pathLst>
              <a:path h="1944369" w="1944369">
                <a:moveTo>
                  <a:pt x="1944369" y="0"/>
                </a:moveTo>
                <a:lnTo>
                  <a:pt x="0" y="0"/>
                </a:lnTo>
                <a:lnTo>
                  <a:pt x="0" y="1944369"/>
                </a:lnTo>
                <a:lnTo>
                  <a:pt x="1944369" y="1944369"/>
                </a:lnTo>
                <a:lnTo>
                  <a:pt x="194436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20837" y="8060020"/>
            <a:ext cx="1944369" cy="1944369"/>
          </a:xfrm>
          <a:custGeom>
            <a:avLst/>
            <a:gdLst/>
            <a:ahLst/>
            <a:cxnLst/>
            <a:rect r="r" b="b" t="t" l="l"/>
            <a:pathLst>
              <a:path h="1944369" w="1944369">
                <a:moveTo>
                  <a:pt x="0" y="0"/>
                </a:moveTo>
                <a:lnTo>
                  <a:pt x="1944369" y="0"/>
                </a:lnTo>
                <a:lnTo>
                  <a:pt x="1944369" y="1944369"/>
                </a:lnTo>
                <a:lnTo>
                  <a:pt x="0" y="19443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58246" y="3907474"/>
            <a:ext cx="7817858" cy="1582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8799" b="true">
                <a:solidFill>
                  <a:srgbClr val="13739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DAG7mDEYdyM</dc:identifier>
  <dcterms:modified xsi:type="dcterms:W3CDTF">2011-08-01T06:04:30Z</dcterms:modified>
  <cp:revision>1</cp:revision>
  <dc:title>Spatial Analysis of Vacant Properties in Baltimore (1).pptx</dc:title>
</cp:coreProperties>
</file>